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9144000" cx="16256000"/>
  <p:notesSz cx="9144000" cy="16256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Montserrat Black"/>
      <p:bold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CB2F37-5733-45C9-9E75-E46136FD9376}">
  <a:tblStyle styleId="{5FCB2F37-5733-45C9-9E75-E46136FD9376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MontserratBlack-boldItalic.fntdata"/><Relationship Id="rId21" Type="http://schemas.openxmlformats.org/officeDocument/2006/relationships/font" Target="fonts/MontserratBlack-bold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5141f659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5141f659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5141f659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53aed8eeb_2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g3f53aed8eeb_2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f53aed8eeb_2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568a0afc9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g3f568a0afc9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f568a0afc9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568a0afc9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f568a0afc9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f568a0afc9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568a0afc9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568a0afc9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568a0afc9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568a0afc9_0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f568a0afc9_0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568a0afc9_0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568a0afc9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f568a0afc9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568a0afc9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568a0afc9_0_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f568a0afc9_0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f568a0afc9_0_1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68a0afc9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f568a0afc9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568a0afc9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68a0afc9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f568a0afc9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568a0afc9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68a0afc9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f568a0afc9_0_1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568a0afc9_0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433800" y="5551345"/>
            <a:ext cx="12231600" cy="27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00" lIns="123800" spcFirstLastPara="1" rIns="123800" wrap="square" tIns="6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5500">
                <a:solidFill>
                  <a:srgbClr val="71A7D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Яндекс.Ровер </a:t>
            </a:r>
            <a:endParaRPr sz="5500">
              <a:solidFill>
                <a:srgbClr val="71A7DE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5500">
                <a:solidFill>
                  <a:srgbClr val="71A7D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и M2M-эстафета</a:t>
            </a:r>
            <a:endParaRPr sz="5500">
              <a:solidFill>
                <a:srgbClr val="71A7DE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rgbClr val="71A7DE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Веб-меню Ровера, доезд по Nav2 в Foxglove и передача 2-х JSON в Unity</a:t>
            </a:r>
            <a:endParaRPr sz="3000">
              <a:solidFill>
                <a:srgbClr val="71A7DE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3248339" y="465979"/>
            <a:ext cx="56052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00" lIns="123800" spcFirstLastPara="1" rIns="123800" wrap="square" tIns="6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8">
                <a:solidFill>
                  <a:srgbClr val="7878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Студкемп </a:t>
            </a:r>
            <a:br>
              <a:rPr lang="en-US" sz="2438">
                <a:solidFill>
                  <a:srgbClr val="7878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-US" sz="2438">
                <a:solidFill>
                  <a:srgbClr val="78787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Яндекс х УрФУ 2026</a:t>
            </a:r>
            <a:endParaRPr sz="1896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3620491" y="393977"/>
            <a:ext cx="2430600" cy="14700"/>
          </a:xfrm>
          <a:prstGeom prst="straightConnector1">
            <a:avLst/>
          </a:prstGeom>
          <a:noFill/>
          <a:ln cap="flat" cmpd="sng" w="172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3620489" y="1398452"/>
            <a:ext cx="2430600" cy="0"/>
          </a:xfrm>
          <a:prstGeom prst="straightConnector1">
            <a:avLst/>
          </a:prstGeom>
          <a:noFill/>
          <a:ln cap="flat" cmpd="sng" w="172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/>
        </p:nvSpPr>
        <p:spPr>
          <a:xfrm>
            <a:off x="433800" y="4929065"/>
            <a:ext cx="153786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61900" lIns="123800" spcFirstLastPara="1" rIns="123800" wrap="square" tIns="6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79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Практическое занятие</a:t>
            </a:r>
            <a:endParaRPr sz="2979">
              <a:solidFill>
                <a:srgbClr val="3F3F3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578350" y="2561051"/>
            <a:ext cx="7113300" cy="2909700"/>
          </a:xfrm>
          <a:prstGeom prst="roundRect">
            <a:avLst>
              <a:gd fmla="val 8000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947730" y="2802653"/>
            <a:ext cx="6374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rgbClr val="4A90D9"/>
                </a:solidFill>
                <a:latin typeface="Montserrat"/>
                <a:ea typeface="Montserrat"/>
                <a:cs typeface="Montserrat"/>
                <a:sym typeface="Montserrat"/>
              </a:rPr>
              <a:t>1. Перехватчик (GFS-X)</a:t>
            </a:r>
            <a:endParaRPr b="1" sz="2200">
              <a:solidFill>
                <a:srgbClr val="4A90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947744" y="3233958"/>
            <a:ext cx="6374400" cy="22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Находится в режиме ожидания IDLE на старте. Нет 3D-лидара. Не знает цель.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Смысл и цель M2M-эстафеты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" name="Google Shape;30;p4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4"/>
          <p:cNvSpPr/>
          <p:nvPr/>
        </p:nvSpPr>
        <p:spPr>
          <a:xfrm>
            <a:off x="7979146" y="2561051"/>
            <a:ext cx="7113300" cy="2909700"/>
          </a:xfrm>
          <a:prstGeom prst="roundRect">
            <a:avLst>
              <a:gd fmla="val 8000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348526" y="2802653"/>
            <a:ext cx="6374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rgbClr val="4A90D9"/>
                </a:solidFill>
                <a:latin typeface="Montserrat"/>
                <a:ea typeface="Montserrat"/>
                <a:cs typeface="Montserrat"/>
                <a:sym typeface="Montserrat"/>
              </a:rPr>
              <a:t>2. Скаут (Яндекс.Ровер)</a:t>
            </a:r>
            <a:endParaRPr b="1" sz="2200">
              <a:solidFill>
                <a:srgbClr val="4A90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348540" y="3233958"/>
            <a:ext cx="6374400" cy="22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Двигается автономно по Nav2, объезжая коробки. Фотографирует сцену.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78350" y="5653310"/>
            <a:ext cx="7113300" cy="2909700"/>
          </a:xfrm>
          <a:prstGeom prst="roundRect">
            <a:avLst>
              <a:gd fmla="val 8000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47730" y="5894913"/>
            <a:ext cx="6374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rgbClr val="4A90D9"/>
                </a:solidFill>
                <a:latin typeface="Montserrat"/>
                <a:ea typeface="Montserrat"/>
                <a:cs typeface="Montserrat"/>
                <a:sym typeface="Montserrat"/>
              </a:rPr>
              <a:t>3. Yandex GPT VLM</a:t>
            </a:r>
            <a:endParaRPr b="1" sz="2200">
              <a:solidFill>
                <a:srgbClr val="4A90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47744" y="6326217"/>
            <a:ext cx="6374400" cy="22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Анализирует изображение. Генерирует 2 структурированных JSON файла.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979146" y="5653310"/>
            <a:ext cx="7113300" cy="2909700"/>
          </a:xfrm>
          <a:prstGeom prst="roundRect">
            <a:avLst>
              <a:gd fmla="val 8000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348526" y="5894913"/>
            <a:ext cx="6374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rgbClr val="4A90D9"/>
                </a:solidFill>
                <a:latin typeface="Montserrat"/>
                <a:ea typeface="Montserrat"/>
                <a:cs typeface="Montserrat"/>
                <a:sym typeface="Montserrat"/>
              </a:rPr>
              <a:t>4. Unity Control</a:t>
            </a:r>
            <a:endParaRPr b="1" sz="2200">
              <a:solidFill>
                <a:srgbClr val="4A90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348540" y="6326217"/>
            <a:ext cx="6374400" cy="22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Принимает JSON: настраивает YOLO на GFS-X, выводит его из IDLE.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578400" y="1726950"/>
            <a:ext cx="145140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Основная задача</a:t>
            </a:r>
            <a:b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0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— выстроить автоматическое межмашинное взаимодействие без непосредственного участия оператора.</a:t>
            </a:r>
            <a:endParaRPr sz="20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Главное веб-меню Ровера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" name="Google Shape;47;p5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8" name="Google Shape;4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5100" y="1622242"/>
            <a:ext cx="7085801" cy="72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578350" y="2561067"/>
            <a:ext cx="4809000" cy="4468800"/>
          </a:xfrm>
          <a:prstGeom prst="roundRect">
            <a:avLst>
              <a:gd fmla="val 8000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828078" y="2932120"/>
            <a:ext cx="43095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rgbClr val="4A90D9"/>
                </a:solidFill>
                <a:latin typeface="Montserrat"/>
                <a:ea typeface="Montserrat"/>
                <a:cs typeface="Montserrat"/>
                <a:sym typeface="Montserrat"/>
              </a:rPr>
              <a:t>Foxglove Studio</a:t>
            </a:r>
            <a:endParaRPr b="1" sz="2200">
              <a:solidFill>
                <a:srgbClr val="4A90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828087" y="3594515"/>
            <a:ext cx="4309500" cy="3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Внешний порт: </a:t>
            </a:r>
            <a:r>
              <a:rPr b="1" lang="en-US" sz="22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:8765</a:t>
            </a:r>
            <a:endParaRPr b="1" sz="22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Служит для 3D-визуализации облака точек, разметки карты помещения и планирования траектории Nav2.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Главное веб-меню Ровера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8" name="Google Shape;58;p6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6"/>
          <p:cNvSpPr/>
          <p:nvPr/>
        </p:nvSpPr>
        <p:spPr>
          <a:xfrm>
            <a:off x="5581830" y="2561067"/>
            <a:ext cx="4809000" cy="4468800"/>
          </a:xfrm>
          <a:prstGeom prst="roundRect">
            <a:avLst>
              <a:gd fmla="val 8000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5831558" y="2932120"/>
            <a:ext cx="43095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rgbClr val="4A90D9"/>
                </a:solidFill>
                <a:latin typeface="Montserrat"/>
                <a:ea typeface="Montserrat"/>
                <a:cs typeface="Montserrat"/>
                <a:sym typeface="Montserrat"/>
              </a:rPr>
              <a:t>Jupyter Lab</a:t>
            </a:r>
            <a:endParaRPr b="1" sz="2200">
              <a:solidFill>
                <a:srgbClr val="4A90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831567" y="3594515"/>
            <a:ext cx="4309500" cy="3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Внешний порт: </a:t>
            </a:r>
            <a:r>
              <a:rPr b="1" lang="en-US" sz="22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:8080</a:t>
            </a:r>
            <a:endParaRPr b="1" sz="22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Среда написания управляющего скрипта Python для обработки видеопотока и отправки VLM запросов.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0835224" y="2561050"/>
            <a:ext cx="4809000" cy="4468800"/>
          </a:xfrm>
          <a:prstGeom prst="roundRect">
            <a:avLst>
              <a:gd fmla="val 8000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11084952" y="2932102"/>
            <a:ext cx="43095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rgbClr val="4A90D9"/>
                </a:solidFill>
                <a:latin typeface="Montserrat"/>
                <a:ea typeface="Montserrat"/>
                <a:cs typeface="Montserrat"/>
                <a:sym typeface="Montserrat"/>
              </a:rPr>
              <a:t>MediaMTX Stream</a:t>
            </a:r>
            <a:endParaRPr b="1" sz="2200">
              <a:solidFill>
                <a:srgbClr val="4A90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1084961" y="3594498"/>
            <a:ext cx="4309500" cy="3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Внешний порт: </a:t>
            </a:r>
            <a:r>
              <a:rPr b="1" lang="en-US" sz="22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:8889</a:t>
            </a:r>
            <a:endParaRPr b="1" sz="22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Высокопроизводительный сервер потокового вещания для вывода реального изображения с камер Ровера.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Шаг 1: Визуализация карты и сенсоров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" name="Google Shape;71;p7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7"/>
          <p:cNvSpPr txBox="1"/>
          <p:nvPr/>
        </p:nvSpPr>
        <p:spPr>
          <a:xfrm>
            <a:off x="578400" y="2050000"/>
            <a:ext cx="6579000" cy="4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Откройте встроенную вкладку </a:t>
            </a:r>
            <a:r>
              <a:rPr b="1" lang="en-US" sz="2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Foxglove Studio</a:t>
            </a: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через главное веб-меню вашего Ровера.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В окне подключения к источнику данных выберите </a:t>
            </a:r>
            <a:r>
              <a:rPr b="1" lang="en-US" sz="2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WebSocket</a:t>
            </a: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Укажите рабочий URL-адрес Ровера: </a:t>
            </a:r>
            <a:r>
              <a:rPr b="1" lang="en-US" sz="2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ws://:8765</a:t>
            </a:r>
            <a:endParaRPr b="1" sz="2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Дождитесь завершения инициализации и проверьте активные топики в панели Foxglove.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" name="Google Shape;7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8975" y="5261177"/>
            <a:ext cx="6337165" cy="36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28975" y="1832650"/>
            <a:ext cx="6337167" cy="3428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Шаг 2: Автономный проезд по Nav2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1" name="Google Shape;81;p8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8"/>
          <p:cNvSpPr txBox="1"/>
          <p:nvPr/>
        </p:nvSpPr>
        <p:spPr>
          <a:xfrm>
            <a:off x="578400" y="2050000"/>
            <a:ext cx="6579000" cy="52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Активируйте инструмент </a:t>
            </a:r>
            <a:r>
              <a:rPr b="1" lang="en-US" sz="2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2D Goal Pose</a:t>
            </a: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на верхней панели управления Foxglove Studio.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Укажите мышью целевую координату перед зоной расстановки объектов и задайте направление взгляда камеры.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Яндекс.Ровер автоматически сгенерирует безопасный маршрут на основе Costmap, объедет статические коробки и остановится.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300"/>
              <a:buFont typeface="Montserrat"/>
              <a:buChar char="●"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Контролируйте доезд и визуальное появление объекта через видеотопик камеры.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83" name="Google Shape;83;p8"/>
          <p:cNvPicPr preferRelativeResize="0"/>
          <p:nvPr/>
        </p:nvPicPr>
        <p:blipFill rotWithShape="1">
          <a:blip r:embed="rId4">
            <a:alphaModFix/>
          </a:blip>
          <a:srcRect b="0" l="58401" r="6165" t="0"/>
          <a:stretch/>
        </p:blipFill>
        <p:spPr>
          <a:xfrm>
            <a:off x="8039600" y="2082100"/>
            <a:ext cx="7383174" cy="49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/>
          <p:nvPr/>
        </p:nvSpPr>
        <p:spPr>
          <a:xfrm>
            <a:off x="578350" y="2561050"/>
            <a:ext cx="7113300" cy="5820600"/>
          </a:xfrm>
          <a:prstGeom prst="roundRect">
            <a:avLst>
              <a:gd fmla="val 8000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947730" y="2802653"/>
            <a:ext cx="6374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rgbClr val="4A90D9"/>
                </a:solidFill>
                <a:latin typeface="Montserrat"/>
                <a:ea typeface="Montserrat"/>
                <a:cs typeface="Montserrat"/>
                <a:sym typeface="Montserrat"/>
              </a:rPr>
              <a:t>Yandex Cloud API</a:t>
            </a:r>
            <a:endParaRPr b="1" sz="2200">
              <a:solidFill>
                <a:srgbClr val="4A90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947750" y="3233951"/>
            <a:ext cx="6374400" cy="4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Для корректного вызова модели Yandex GPT VLM в скрипте потребуются два идентификатора: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Folder ID:</a:t>
            </a: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 Возьмите из панели каталога в console.yandex.cloud.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IAM Token: </a:t>
            </a: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Сгенерируйте в Yandex Cloud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9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Шаг 3: Авторизация Yandex Cloud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и Jupyter Lab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3" name="Google Shape;93;p9"/>
          <p:cNvCxnSpPr/>
          <p:nvPr/>
        </p:nvCxnSpPr>
        <p:spPr>
          <a:xfrm>
            <a:off x="552553" y="213686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9"/>
          <p:cNvSpPr/>
          <p:nvPr/>
        </p:nvSpPr>
        <p:spPr>
          <a:xfrm>
            <a:off x="7979150" y="2561049"/>
            <a:ext cx="7113300" cy="5820600"/>
          </a:xfrm>
          <a:prstGeom prst="roundRect">
            <a:avLst>
              <a:gd fmla="val 8000" name="adj"/>
            </a:avLst>
          </a:prstGeom>
          <a:solidFill>
            <a:srgbClr val="F5F6F8"/>
          </a:solidFill>
          <a:ln>
            <a:noFill/>
          </a:ln>
        </p:spPr>
        <p:txBody>
          <a:bodyPr anchorCtr="0" anchor="ctr" bIns="106800" lIns="106800" spcFirstLastPara="1" rIns="106800" wrap="square" tIns="106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8348526" y="2802653"/>
            <a:ext cx="63744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200">
                <a:solidFill>
                  <a:srgbClr val="4A90D9"/>
                </a:solidFill>
                <a:latin typeface="Montserrat"/>
                <a:ea typeface="Montserrat"/>
                <a:cs typeface="Montserrat"/>
                <a:sym typeface="Montserrat"/>
              </a:rPr>
              <a:t>2. Скаут (Яндекс.Ровер)</a:t>
            </a:r>
            <a:endParaRPr b="1" sz="2200">
              <a:solidFill>
                <a:srgbClr val="4A90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8348550" y="3233951"/>
            <a:ext cx="6374400" cy="43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Локальная среда разработки непосредственно на бортовом компьютере Ровера: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Перейдите в </a:t>
            </a: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Jupyter Lab </a:t>
            </a: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(порт :8080) через главную веб-панель.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Создайте пустой python-файл с названием </a:t>
            </a:r>
            <a:r>
              <a:rPr b="1" lang="en-US" sz="20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rover_dispatcher.py </a:t>
            </a: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в рабочей директории.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000"/>
              <a:buFont typeface="Montserrat"/>
              <a:buChar char="●"/>
            </a:pPr>
            <a:r>
              <a:rPr lang="en-US" sz="2000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Этот скрипт объединит видеопоток, обращение к VLM API и отправку JSON команд.</a:t>
            </a:r>
            <a:endParaRPr sz="2000">
              <a:solidFill>
                <a:srgbClr val="2C3E5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Архитектура скрипта диспетчера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3" name="Google Shape;103;p10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0"/>
          <p:cNvSpPr txBox="1"/>
          <p:nvPr/>
        </p:nvSpPr>
        <p:spPr>
          <a:xfrm>
            <a:off x="578400" y="2976025"/>
            <a:ext cx="70722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1A7DE"/>
              </a:buClr>
              <a:buSzPts val="2500"/>
              <a:buFont typeface="Montserrat"/>
              <a:buChar char="●"/>
            </a:pPr>
            <a:r>
              <a:rPr b="1" lang="en-US" sz="25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capture_rover_frame()</a:t>
            </a:r>
            <a:endParaRPr b="1" sz="25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Осуществляет подключение по HTTP 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к видеовещанию MediaMTX (:8889), считывает последний кадр OpenCV, кодирует его в Base64.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0"/>
          <p:cNvSpPr txBox="1"/>
          <p:nvPr/>
        </p:nvSpPr>
        <p:spPr>
          <a:xfrm>
            <a:off x="578400" y="1753675"/>
            <a:ext cx="150471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Управляющий скрипт</a:t>
            </a: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2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rover_dispatcher.py</a:t>
            </a: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функционирует по следующему модульному принципу: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578400" y="5270275"/>
            <a:ext cx="7072200" cy="16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1A7DE"/>
              </a:buClr>
              <a:buSzPts val="2500"/>
              <a:buFont typeface="Montserrat"/>
              <a:buChar char="●"/>
            </a:pPr>
            <a:r>
              <a:rPr b="1" lang="en-US" sz="25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query_yandex_vlm()</a:t>
            </a:r>
            <a:endParaRPr b="1" sz="25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Отправляет POST-запрос с закодированным кадром и системным промптом на сервера Yandex GPT VLM.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0"/>
          <p:cNvSpPr txBox="1"/>
          <p:nvPr/>
        </p:nvSpPr>
        <p:spPr>
          <a:xfrm>
            <a:off x="8553326" y="2976025"/>
            <a:ext cx="70722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1A7DE"/>
              </a:buClr>
              <a:buSzPts val="2500"/>
              <a:buFont typeface="Montserrat"/>
              <a:buChar char="●"/>
            </a:pPr>
            <a:r>
              <a:rPr b="1" lang="en-US" sz="25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parse_json_commands()</a:t>
            </a:r>
            <a:endParaRPr b="1" sz="25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Регулярными выражениями вычищает ответ от Yandex GPT, вычленяя два валидных JSON объекта из текстового вывода.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0"/>
          <p:cNvSpPr txBox="1"/>
          <p:nvPr/>
        </p:nvSpPr>
        <p:spPr>
          <a:xfrm>
            <a:off x="8553326" y="5270275"/>
            <a:ext cx="7072200" cy="16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1A7DE"/>
              </a:buClr>
              <a:buSzPts val="2500"/>
              <a:buFont typeface="Montserrat"/>
              <a:buChar char="●"/>
            </a:pPr>
            <a:r>
              <a:rPr b="1" lang="en-US" sz="25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send_to_unity_mission_control()</a:t>
            </a:r>
            <a:endParaRPr b="1" sz="25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 Пересылает команды посредством HTTP REST API на ПК с запущенной средой Unity на порт </a:t>
            </a:r>
            <a:r>
              <a:rPr b="1"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:8088</a:t>
            </a:r>
            <a:r>
              <a:rPr lang="en-US" sz="23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3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JSON-команд для GFS-X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5" name="Google Shape;115;p11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11"/>
          <p:cNvSpPr txBox="1"/>
          <p:nvPr/>
        </p:nvSpPr>
        <p:spPr>
          <a:xfrm>
            <a:off x="578400" y="2110125"/>
            <a:ext cx="707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JSON 1: Конфигурация YOLO</a:t>
            </a:r>
            <a:endParaRPr b="1" sz="26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578400" y="5270275"/>
            <a:ext cx="7072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Задает в системе компьютерного зрения перехватчика GFS-X искомый класс объекта для детекции.</a:t>
            </a:r>
            <a:endParaRPr sz="25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18" name="Google Shape;118;p11"/>
          <p:cNvPicPr preferRelativeResize="0"/>
          <p:nvPr/>
        </p:nvPicPr>
        <p:blipFill rotWithShape="1">
          <a:blip r:embed="rId4">
            <a:alphaModFix/>
          </a:blip>
          <a:srcRect b="60338" l="52460" r="18205" t="22959"/>
          <a:stretch/>
        </p:blipFill>
        <p:spPr>
          <a:xfrm>
            <a:off x="8236503" y="2757763"/>
            <a:ext cx="7072202" cy="226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1"/>
          <p:cNvPicPr preferRelativeResize="0"/>
          <p:nvPr/>
        </p:nvPicPr>
        <p:blipFill rotWithShape="1">
          <a:blip r:embed="rId4">
            <a:alphaModFix/>
          </a:blip>
          <a:srcRect b="60338" l="5072" r="65592" t="22959"/>
          <a:stretch/>
        </p:blipFill>
        <p:spPr>
          <a:xfrm>
            <a:off x="578400" y="2757753"/>
            <a:ext cx="7072202" cy="226508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1"/>
          <p:cNvSpPr txBox="1"/>
          <p:nvPr/>
        </p:nvSpPr>
        <p:spPr>
          <a:xfrm>
            <a:off x="8236500" y="2110125"/>
            <a:ext cx="707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JSON 2: Активация робота</a:t>
            </a:r>
            <a:endParaRPr b="1" sz="26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1"/>
          <p:cNvSpPr txBox="1"/>
          <p:nvPr/>
        </p:nvSpPr>
        <p:spPr>
          <a:xfrm>
            <a:off x="8236500" y="5270275"/>
            <a:ext cx="7072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rPr>
              <a:t>Переводит перехватчик GFS-X из энергосберегающего режима ожидания IDLE в активный автономный старт.</a:t>
            </a:r>
            <a:endParaRPr sz="2500">
              <a:solidFill>
                <a:srgbClr val="3F3F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Контрольный список для студента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9" name="Google Shape;129;p12"/>
          <p:cNvGraphicFramePr/>
          <p:nvPr/>
        </p:nvGraphicFramePr>
        <p:xfrm>
          <a:off x="578400" y="1929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{5FCB2F37-5733-45C9-9E75-E46136FD9376}</a:tableStyleId>
              </a:tblPr>
              <a:tblGrid>
                <a:gridCol w="3015900"/>
                <a:gridCol w="4519925"/>
                <a:gridCol w="5273350"/>
                <a:gridCol w="2260275"/>
              </a:tblGrid>
              <a:tr h="121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04040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Этап выполнения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A7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04040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Сервис / Инструмент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A7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04040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Критерий успешности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A7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404040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Статус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1A7DE"/>
                    </a:solidFill>
                  </a:tcPr>
                </a:tc>
              </a:tr>
              <a:tr h="121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 Подключение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Яндекс Браузер / Главное меню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Открыт веб-интерфейс Ровера по IP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 процессе</a:t>
                      </a:r>
                      <a:endParaRPr b="1"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Навигация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Foxglove Studio (:8765) / Nav2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Ровер доехал до зоны и встал перед целью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 процессе</a:t>
                      </a:r>
                      <a:endParaRPr b="1"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Код &amp; ИИ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Jupyter Lab (:8080) / Yandex VLM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Сформирован rover_dispatcher.py, получен ответ VLM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 процессе</a:t>
                      </a:r>
                      <a:endParaRPr b="1"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Перехват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Unity Mission Control (:8088)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 JSON приняты Unity, робот GFS-X проснулся</a:t>
                      </a:r>
                      <a:endParaRPr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40404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 процессе</a:t>
                      </a:r>
                      <a:endParaRPr b="1" sz="2000">
                        <a:solidFill>
                          <a:srgbClr val="40404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/>
        </p:nvSpPr>
        <p:spPr>
          <a:xfrm>
            <a:off x="578399" y="591167"/>
            <a:ext cx="12861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300">
                <a:solidFill>
                  <a:srgbClr val="71A7DE"/>
                </a:solidFill>
                <a:latin typeface="Montserrat"/>
                <a:ea typeface="Montserrat"/>
                <a:cs typeface="Montserrat"/>
                <a:sym typeface="Montserrat"/>
              </a:rPr>
              <a:t>Начало работы</a:t>
            </a:r>
            <a:endParaRPr b="1" sz="4300">
              <a:solidFill>
                <a:srgbClr val="71A7D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6" name="Google Shape;136;p13"/>
          <p:cNvCxnSpPr/>
          <p:nvPr/>
        </p:nvCxnSpPr>
        <p:spPr>
          <a:xfrm>
            <a:off x="578403" y="1477217"/>
            <a:ext cx="7164900" cy="0"/>
          </a:xfrm>
          <a:prstGeom prst="straightConnector1">
            <a:avLst/>
          </a:prstGeom>
          <a:noFill/>
          <a:ln cap="flat" cmpd="sng" w="16925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3"/>
          <p:cNvSpPr txBox="1"/>
          <p:nvPr/>
        </p:nvSpPr>
        <p:spPr>
          <a:xfrm>
            <a:off x="2892100" y="3011188"/>
            <a:ext cx="104718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Введите IP-адрес вашей аппаратной платформы в Яндекс Браузере и перейдите в Foxglove.</a:t>
            </a:r>
            <a:endParaRPr sz="22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6452538" y="4177116"/>
            <a:ext cx="3351000" cy="836400"/>
          </a:xfrm>
          <a:prstGeom prst="roundRect">
            <a:avLst>
              <a:gd fmla="val 11428" name="adj"/>
            </a:avLst>
          </a:prstGeom>
          <a:noFill/>
          <a:ln cap="flat" cmpd="sng" w="76200">
            <a:solidFill>
              <a:srgbClr val="71A7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7290288" y="4325916"/>
            <a:ext cx="1675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http://</a:t>
            </a:r>
            <a:endParaRPr sz="35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3677491" y="5252325"/>
            <a:ext cx="89013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40404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Открываем Foxglove Studio и приступаем к выполнению шага 1!</a:t>
            </a:r>
            <a:endParaRPr sz="2200">
              <a:solidFill>
                <a:srgbClr val="4040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