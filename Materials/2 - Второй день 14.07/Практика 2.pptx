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9144000" cx="16256000"/>
  <p:notesSz cx="9144000" cy="16256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 Black"/>
      <p:bold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Black-boldItalic.fntdata"/><Relationship Id="rId18" Type="http://schemas.openxmlformats.org/officeDocument/2006/relationships/font" Target="fonts/Montserra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5141f659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5141f659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5141f659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3a57b3ad7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f3a57b3ad7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f3a57b3ad7_2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3a57b3ad7_2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f3a57b3ad7_2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f3a57b3ad7_2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a57b3ad7_2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3a57b3ad7_2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3a57b3ad7_2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3a57b3ad7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3a57b3ad7_2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3a57b3ad7_2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a4ef2538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3a4ef253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3a4ef2538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a57b3ad7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3a57b3ad7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3a57b3ad7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a57b3ad7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3a57b3ad7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3a57b3ad7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a57b3ad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3a57b3ad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3a57b3ad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33800" y="5551345"/>
            <a:ext cx="12231600" cy="27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5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Цифровой двойник GFS-X </a:t>
            </a:r>
            <a:endParaRPr sz="55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5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в Unity</a:t>
            </a:r>
            <a:endParaRPr sz="55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Сборка физической модели робота, кинематика гусеничного привода и виртуальные датчики</a:t>
            </a:r>
            <a:endParaRPr sz="30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248339" y="465979"/>
            <a:ext cx="56052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Студкемп </a:t>
            </a:r>
            <a:b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Яндекс х УрФУ 2026</a:t>
            </a:r>
            <a:endParaRPr sz="1896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3620491" y="393977"/>
            <a:ext cx="2430600" cy="14700"/>
          </a:xfrm>
          <a:prstGeom prst="straightConnector1">
            <a:avLst/>
          </a:prstGeom>
          <a:noFill/>
          <a:ln cap="flat" cmpd="sng" w="172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3620489" y="1398452"/>
            <a:ext cx="2430600" cy="0"/>
          </a:xfrm>
          <a:prstGeom prst="straightConnector1">
            <a:avLst/>
          </a:prstGeom>
          <a:noFill/>
          <a:ln cap="flat" cmpd="sng" w="172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/>
        </p:nvSpPr>
        <p:spPr>
          <a:xfrm>
            <a:off x="433800" y="4929065"/>
            <a:ext cx="153786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79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ПРАКТИКА 2</a:t>
            </a:r>
            <a:endParaRPr sz="2979">
              <a:solidFill>
                <a:srgbClr val="3F3F3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615138" y="2814900"/>
            <a:ext cx="4900800" cy="3514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План действий: Практика 2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/>
        </p:nvSpPr>
        <p:spPr>
          <a:xfrm>
            <a:off x="853133" y="3780300"/>
            <a:ext cx="4424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Импортируем 3D-модель (FBX), добавим Rigidbody и настроим корректное распределение массы.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853133" y="3164700"/>
            <a:ext cx="44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1. Базовая физика</a:t>
            </a:r>
            <a:endParaRPr b="1" sz="24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853133" y="5494633"/>
            <a:ext cx="44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RIGIDBODY &amp; МАССА</a:t>
            </a:r>
            <a:endParaRPr b="1" sz="20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677601" y="2814900"/>
            <a:ext cx="4900800" cy="3514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915602" y="3780300"/>
            <a:ext cx="4424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Создадим TrackController, реализуем формулу смешивания скоростей и калибровку разгона.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915602" y="3164700"/>
            <a:ext cx="44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2. Движение и Моторы</a:t>
            </a:r>
            <a:endParaRPr b="1" sz="24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915602" y="5494633"/>
            <a:ext cx="44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СМЕШИВАНИЕ СКОРОСТЕЙ</a:t>
            </a:r>
            <a:endParaRPr b="1" sz="20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740064" y="2814900"/>
            <a:ext cx="4900800" cy="3514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10978070" y="3780300"/>
            <a:ext cx="4424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Разместим ИК и УЗ датчики, настроим камеру и свяжем робота с ROS посредством TCP моста.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0978070" y="3164700"/>
            <a:ext cx="44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3. Сенсоры и ROS</a:t>
            </a:r>
            <a:endParaRPr b="1" sz="24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0978070" y="5494633"/>
            <a:ext cx="44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VIRTUALSENSORS </a:t>
            </a:r>
            <a:endParaRPr b="1" sz="20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Физика корпуса &amp; Rigidbody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" name="Google Shape;46;p5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5"/>
          <p:cNvSpPr txBox="1"/>
          <p:nvPr/>
        </p:nvSpPr>
        <p:spPr>
          <a:xfrm>
            <a:off x="578400" y="1936003"/>
            <a:ext cx="7799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свойства Rigidbody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78400" y="2675578"/>
            <a:ext cx="7799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Реалистичная масса: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Выставляем массу в 2.5 кг (эквивалентно реальному весу GFS-X).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Заморозка вращения: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Активируем параметр Freeze Rotation X &amp; Z.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Устойчивость: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Блокировка вращения защищает робота от опрокидывания при наездах на препятствия в лабиринте.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Тестирование инерции: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Можно динамически изменять массу для проверки сходимости алгоритмов.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9676" y="1936000"/>
            <a:ext cx="4726725" cy="658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Упрощенная коллизия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" name="Google Shape;56;p6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6"/>
          <p:cNvSpPr txBox="1"/>
          <p:nvPr/>
        </p:nvSpPr>
        <p:spPr>
          <a:xfrm>
            <a:off x="578400" y="1936003"/>
            <a:ext cx="7799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Почему без Wheel Colliders?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578400" y="2675575"/>
            <a:ext cx="56913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Стандартные колесные коллайдеры вызывают сильное дрожание и физическую нестабильность гусениц.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Плоское скольжение: </a:t>
            </a: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Робот опирается на плоский невидимый коллайдер основания с низким трением.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Box Collider на корпусе:</a:t>
            </a:r>
            <a:r>
              <a:rPr b="1" lang="en-US" sz="20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Защищает верхнюю часть робота при ударах о препятствия.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" name="Google Shape;5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0650" y="1910518"/>
            <a:ext cx="8772251" cy="532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9550400" y="1955800"/>
            <a:ext cx="6286800" cy="213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Калибровка моторов Sim-to-Real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" name="Google Shape;67;p7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7"/>
          <p:cNvSpPr txBox="1"/>
          <p:nvPr/>
        </p:nvSpPr>
        <p:spPr>
          <a:xfrm>
            <a:off x="578400" y="1936003"/>
            <a:ext cx="7799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0" spcFirstLastPara="1" rIns="121900" wrap="square" tIns="1219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Характеристика PWM разгона</a:t>
            </a:r>
            <a:endParaRPr b="1" sz="25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69" name="Google Shape;69;p7"/>
          <p:cNvPicPr preferRelativeResize="0"/>
          <p:nvPr/>
        </p:nvPicPr>
        <p:blipFill rotWithShape="1">
          <a:blip r:embed="rId4">
            <a:alphaModFix/>
          </a:blip>
          <a:srcRect b="0" l="15119" r="19402" t="0"/>
          <a:stretch/>
        </p:blipFill>
        <p:spPr>
          <a:xfrm>
            <a:off x="578400" y="3025675"/>
            <a:ext cx="8747676" cy="38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9875221" y="2147350"/>
            <a:ext cx="563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motorDeadzone (30)</a:t>
            </a:r>
            <a:endParaRPr b="1" sz="20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Команды ниже порога отсекаются, моделируя сухое трение реального редуктора.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9550400" y="4281892"/>
            <a:ext cx="6286800" cy="213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9875150" y="4505092"/>
            <a:ext cx="563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minMotorPwm (50)</a:t>
            </a:r>
            <a:endParaRPr b="1" sz="20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Стартовый уровень мощности, необходимый для преодоления инерции покоя.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9550400" y="6607984"/>
            <a:ext cx="6286800" cy="213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9875221" y="6831184"/>
            <a:ext cx="563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maxPwmStep (15)</a:t>
            </a:r>
            <a:endParaRPr b="1" sz="20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Лимит изменения мощности 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за один шаг симуляции для плавного разгона.</a:t>
            </a:r>
            <a:endParaRPr sz="20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Лучевая сенсорика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" name="Google Shape;81;p8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8"/>
          <p:cNvSpPr txBox="1"/>
          <p:nvPr/>
        </p:nvSpPr>
        <p:spPr>
          <a:xfrm>
            <a:off x="578400" y="1917501"/>
            <a:ext cx="55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VirtualSensors.cs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578400" y="3916600"/>
            <a:ext cx="71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CenterPoint: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ультразвуковой дальномер (вперед)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578400" y="4371850"/>
            <a:ext cx="71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Left/Right IR: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ИК-датчики стен (под углом)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578400" y="4827100"/>
            <a:ext cx="71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GripperIR: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датчик присутствия мяча внутри клешни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578400" y="2696475"/>
            <a:ext cx="833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Каждую физическую итерацию скрипт пускает лучи через </a:t>
            </a:r>
            <a:r>
              <a:rPr lang="en-US" sz="2000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Physics.Raycast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из четырех дочерних пустых объектов-якорей: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" name="Google Shape;8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2145" y="3476328"/>
            <a:ext cx="7764655" cy="510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Камера и Имитация YOLO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9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9"/>
          <p:cNvSpPr txBox="1"/>
          <p:nvPr/>
        </p:nvSpPr>
        <p:spPr>
          <a:xfrm>
            <a:off x="578400" y="1917501"/>
            <a:ext cx="55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Имитация машинного зрения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578400" y="2814600"/>
            <a:ext cx="7164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Угол обзора 40°: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Поле зрения (FOV) виртуальной камеры точно соответствует линзе физического робота GFS-X.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578400" y="4280975"/>
            <a:ext cx="7164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WorldToViewportPoint: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 трехмерных мировых координат центра мяча в относительные экранные координаты 2D кадра.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578400" y="5747350"/>
            <a:ext cx="7164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Проверка окклюзии: </a:t>
            </a: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Raycast от камеры к мячу для проверки, не скрыт ли мяч препятствиями.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850" y="1917499"/>
            <a:ext cx="7980851" cy="457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Логический захват клешнёй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6" name="Google Shape;106;p10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age.png"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7725" y="3596500"/>
            <a:ext cx="3964932" cy="407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5450" y="3596500"/>
            <a:ext cx="3965099" cy="407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23343" y="3596500"/>
            <a:ext cx="3964932" cy="407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 txBox="1"/>
          <p:nvPr/>
        </p:nvSpPr>
        <p:spPr>
          <a:xfrm>
            <a:off x="2960454" y="4014006"/>
            <a:ext cx="19794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1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1. Детекция в клешне</a:t>
            </a:r>
            <a:endParaRPr b="1" sz="2011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2297596" y="4978535"/>
            <a:ext cx="3305100" cy="15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Когда мяч попадает в створ захвата и датчик</a:t>
            </a:r>
            <a:br>
              <a:rPr lang="en-US" sz="1787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gripperIR == 1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выдает положительный сигнал...</a:t>
            </a:r>
            <a:endParaRPr sz="1787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7069754" y="4014006"/>
            <a:ext cx="211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1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2. Отключение физики</a:t>
            </a:r>
            <a:endParaRPr b="1" sz="2011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6475321" y="4978535"/>
            <a:ext cx="33054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Переводим Rigidbody мяча в режим 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isKinematic = true 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 отключаем коллайдер, чтобы предотвратить дрожание и выскальзывание.</a:t>
            </a:r>
            <a:endParaRPr sz="1787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11028403" y="4014006"/>
            <a:ext cx="25548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1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3. parenting (Связывание)</a:t>
            </a:r>
            <a:endParaRPr b="1" sz="2011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0"/>
          <p:cNvSpPr txBox="1"/>
          <p:nvPr/>
        </p:nvSpPr>
        <p:spPr>
          <a:xfrm>
            <a:off x="10653214" y="4978535"/>
            <a:ext cx="3305100" cy="19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Трансформ мяча жестко привязывается (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SetParent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) к объекту </a:t>
            </a:r>
            <a:r>
              <a:rPr i="0" lang="en-US" sz="1787" u="none" cap="none" strike="noStrike">
                <a:solidFill>
                  <a:srgbClr val="38BDF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HoldPoint</a:t>
            </a:r>
            <a:r>
              <a:rPr i="0" lang="en-US" sz="1787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, заставляя его двигаться вместе с клешней.</a:t>
            </a:r>
            <a:endParaRPr sz="1787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Связь с ROS через TCP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" name="Google Shape;122;p11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1"/>
          <p:cNvSpPr txBox="1"/>
          <p:nvPr/>
        </p:nvSpPr>
        <p:spPr>
          <a:xfrm>
            <a:off x="578400" y="1917501"/>
            <a:ext cx="55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B9BD5"/>
                </a:solidFill>
                <a:latin typeface="Montserrat"/>
                <a:ea typeface="Montserrat"/>
                <a:cs typeface="Montserrat"/>
                <a:sym typeface="Montserrat"/>
              </a:rPr>
              <a:t>Настройка ROS-TCP-Connector</a:t>
            </a:r>
            <a:endParaRPr b="1" sz="2200">
              <a:solidFill>
                <a:srgbClr val="5B9BD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578400" y="2814600"/>
            <a:ext cx="7589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Параметры связи:</a:t>
            </a:r>
            <a:r>
              <a:rPr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Перейдите в Robotics → ROS Settings и укажите локальный IP 127.0.0.1 и порт 10000.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578400" y="3822100"/>
            <a:ext cx="7589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Скрипт ROSBridge.cs:</a:t>
            </a:r>
            <a:r>
              <a:rPr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Добавлен на робота для управления передачей сообщений о скорости и сенсорике.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578400" y="5291300"/>
            <a:ext cx="7589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команд:</a:t>
            </a:r>
            <a:r>
              <a:rPr i="0" lang="en-US" sz="2000" u="none" cap="none" strike="noStrike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20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Команды скорости из топика /cmd_vel ROS транслируются прямо в Move-методы Rigidbody в Unity.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9196" y="1917495"/>
            <a:ext cx="7276425" cy="61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